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1850b10b654cad" /><Relationship Type="http://schemas.openxmlformats.org/officeDocument/2006/relationships/extended-properties" Target="/docProps/app.xml" Id="R351ae890210742c5" /><Relationship Type="http://schemas.openxmlformats.org/officeDocument/2006/relationships/officeDocument" Target="/ppt/presentation.xml" Id="R8ea0174433e3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1e91d41b5246d0"/>
  </p:sldMasterIdLst>
  <p:notesMasterIdLst>
    <p:notesMasterId xmlns:r="http://schemas.openxmlformats.org/officeDocument/2006/relationships" r:id="R68b45c2c296f48b2"/>
  </p:notesMasterIdLst>
  <p:sldIdLst>
    <p:sldId xmlns:r="http://schemas.openxmlformats.org/officeDocument/2006/relationships" id="256" r:id="R5e4326023bb044f1"/>
    <p:sldId xmlns:r="http://schemas.openxmlformats.org/officeDocument/2006/relationships" id="257" r:id="R7b368665c5bb440d"/>
    <p:sldId xmlns:r="http://schemas.openxmlformats.org/officeDocument/2006/relationships" id="258" r:id="R718acd37ba074d15"/>
    <p:sldId xmlns:r="http://schemas.openxmlformats.org/officeDocument/2006/relationships" id="259" r:id="R8406438a379944eb"/>
    <p:sldId xmlns:r="http://schemas.openxmlformats.org/officeDocument/2006/relationships" id="260" r:id="R85212afabce54b67"/>
    <p:sldId xmlns:r="http://schemas.openxmlformats.org/officeDocument/2006/relationships" id="261" r:id="R4f2bf95ee74541ec"/>
    <p:sldId xmlns:r="http://schemas.openxmlformats.org/officeDocument/2006/relationships" id="262" r:id="Rd8f7c4f0bd834485"/>
    <p:sldId xmlns:r="http://schemas.openxmlformats.org/officeDocument/2006/relationships" id="263" r:id="Rd1d5831fe60c4502"/>
    <p:sldId xmlns:r="http://schemas.openxmlformats.org/officeDocument/2006/relationships" id="264" r:id="Ra61bd58dd86c414d"/>
    <p:sldId xmlns:r="http://schemas.openxmlformats.org/officeDocument/2006/relationships" id="265" r:id="R35b3d48066544c9e"/>
    <p:sldId xmlns:r="http://schemas.openxmlformats.org/officeDocument/2006/relationships" id="266" r:id="R9befa545a8c14817"/>
    <p:sldId xmlns:r="http://schemas.openxmlformats.org/officeDocument/2006/relationships" id="267" r:id="R2cc112dfc1bf4de8"/>
    <p:sldId xmlns:r="http://schemas.openxmlformats.org/officeDocument/2006/relationships" id="268" r:id="Rfb705d73659547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1baadbcd864744" /><Relationship Type="http://schemas.openxmlformats.org/officeDocument/2006/relationships/slideMaster" Target="/ppt/slideMasters/slideMaster1.xml" Id="R531e91d41b5246d0" /><Relationship Type="http://schemas.openxmlformats.org/officeDocument/2006/relationships/notesMaster" Target="/ppt/notesMasters/notesMaster1.xml" Id="R68b45c2c296f48b2" /><Relationship Type="http://schemas.openxmlformats.org/officeDocument/2006/relationships/presProps" Target="/ppt/presProps.xml" Id="Rcd970e90d4df42c5" /><Relationship Type="http://schemas.openxmlformats.org/officeDocument/2006/relationships/tableStyles" Target="/ppt/tableStyles.xml" Id="R891bf913ff3a4076" /><Relationship Type="http://schemas.openxmlformats.org/officeDocument/2006/relationships/slide" Target="/ppt/slides/slide1.xml" Id="R5e4326023bb044f1" /><Relationship Type="http://schemas.openxmlformats.org/officeDocument/2006/relationships/slide" Target="/ppt/slides/slide2.xml" Id="R7b368665c5bb440d" /><Relationship Type="http://schemas.openxmlformats.org/officeDocument/2006/relationships/slide" Target="/ppt/slides/slide3.xml" Id="R718acd37ba074d15" /><Relationship Type="http://schemas.openxmlformats.org/officeDocument/2006/relationships/slide" Target="/ppt/slides/slide4.xml" Id="R8406438a379944eb" /><Relationship Type="http://schemas.openxmlformats.org/officeDocument/2006/relationships/slide" Target="/ppt/slides/slide5.xml" Id="R85212afabce54b67" /><Relationship Type="http://schemas.openxmlformats.org/officeDocument/2006/relationships/slide" Target="/ppt/slides/slide6.xml" Id="R4f2bf95ee74541ec" /><Relationship Type="http://schemas.openxmlformats.org/officeDocument/2006/relationships/slide" Target="/ppt/slides/slide7.xml" Id="Rd8f7c4f0bd834485" /><Relationship Type="http://schemas.openxmlformats.org/officeDocument/2006/relationships/slide" Target="/ppt/slides/slide8.xml" Id="Rd1d5831fe60c4502" /><Relationship Type="http://schemas.openxmlformats.org/officeDocument/2006/relationships/slide" Target="/ppt/slides/slide9.xml" Id="Ra61bd58dd86c414d" /><Relationship Type="http://schemas.openxmlformats.org/officeDocument/2006/relationships/slide" Target="/ppt/slides/slide10.xml" Id="R35b3d48066544c9e" /><Relationship Type="http://schemas.openxmlformats.org/officeDocument/2006/relationships/slide" Target="/ppt/slides/slide11.xml" Id="R9befa545a8c14817" /><Relationship Type="http://schemas.openxmlformats.org/officeDocument/2006/relationships/slide" Target="/ppt/slides/slide12.xml" Id="R2cc112dfc1bf4de8" /><Relationship Type="http://schemas.openxmlformats.org/officeDocument/2006/relationships/slide" Target="/ppt/slides/slide13.xml" Id="Rfb705d736595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08ffb31cc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6dbaae8034871" /><Relationship Type="http://schemas.openxmlformats.org/officeDocument/2006/relationships/notesMaster" Target="/ppt/notesMasters/notesMaster1.xml" Id="R637f143b39cb47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677025219944a4" /><Relationship Type="http://schemas.openxmlformats.org/officeDocument/2006/relationships/notesMaster" Target="/ppt/notesMasters/notesMaster1.xml" Id="R486cde0ff453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85bcc25ee74246" /><Relationship Type="http://schemas.openxmlformats.org/officeDocument/2006/relationships/notesMaster" Target="/ppt/notesMasters/notesMaster1.xml" Id="R5662e7f5b25a4b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e7ea32a694b5a" /><Relationship Type="http://schemas.openxmlformats.org/officeDocument/2006/relationships/notesMaster" Target="/ppt/notesMasters/notesMaster1.xml" Id="Refcbe12fb0e8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0fc3fe20bd47a1" /><Relationship Type="http://schemas.openxmlformats.org/officeDocument/2006/relationships/notesMaster" Target="/ppt/notesMasters/notesMaster1.xml" Id="R1147b6a25f0b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63c6e098c940f2" /><Relationship Type="http://schemas.openxmlformats.org/officeDocument/2006/relationships/notesMaster" Target="/ppt/notesMasters/notesMaster1.xml" Id="R8fa7d3d060cd48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4ebea50c7e4645" /><Relationship Type="http://schemas.openxmlformats.org/officeDocument/2006/relationships/notesMaster" Target="/ppt/notesMasters/notesMaster1.xml" Id="Rb6da14acc7f84d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db7df30e834e53" /><Relationship Type="http://schemas.openxmlformats.org/officeDocument/2006/relationships/notesMaster" Target="/ppt/notesMasters/notesMaster1.xml" Id="R650d7bcd83ce41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efb79308144a27" /><Relationship Type="http://schemas.openxmlformats.org/officeDocument/2006/relationships/notesMaster" Target="/ppt/notesMasters/notesMaster1.xml" Id="Rcf6915f989e742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f43b02cea2492e" /><Relationship Type="http://schemas.openxmlformats.org/officeDocument/2006/relationships/notesMaster" Target="/ppt/notesMasters/notesMaster1.xml" Id="Rd1be4bb5f94b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db8cbb9117460c" /><Relationship Type="http://schemas.openxmlformats.org/officeDocument/2006/relationships/notesMaster" Target="/ppt/notesMasters/notesMaster1.xml" Id="R903092a06cc04d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29614a14894831" /><Relationship Type="http://schemas.openxmlformats.org/officeDocument/2006/relationships/notesMaster" Target="/ppt/notesMasters/notesMaster1.xml" Id="R7321fbd63aec48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ec6cfde8d74f7e" /><Relationship Type="http://schemas.openxmlformats.org/officeDocument/2006/relationships/notesMaster" Target="/ppt/notesMasters/notesMaster1.xml" Id="Rb32bdc330467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costs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brief; FAO Crop evapotranspiration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hardware architecture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safety design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FAO crop-factor table: https://www.fao.org/4/s2022e/s2022e07.htm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FAO Crop water needs https://www.fao.org/4/s2022e/s2022e07.htm; FAO-56 https://www.fao.org/4/x0490e/x0490e00.htm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ML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firmware design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database/reporting design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Cost schedule supplied by user. Main pump expressly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Cost schedule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FAO integrated soil management manual https://www.fao.org/4/x4799e/x4799e.pdf; outcome figures are conditional, not a deployment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Savings example and economic framing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8bb433550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96faf6ddd34a97" /><Relationship Type="http://schemas.openxmlformats.org/officeDocument/2006/relationships/slideLayout" Target="/ppt/slideLayouts/slideLayout1.xml" Id="Rae070df7cff1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70df7cff1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6b99af16e424d" /><Relationship Type="http://schemas.openxmlformats.org/officeDocument/2006/relationships/notesSlide" Target="/ppt/notesSlides/notesSlide1.xml" Id="R194ac2f356cb48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414caadce4a35" /><Relationship Type="http://schemas.openxmlformats.org/officeDocument/2006/relationships/notesSlide" Target="/ppt/notesSlides/notesSlide2.xml" Id="Re9bae8768414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cf283fa3c40cf" /><Relationship Type="http://schemas.openxmlformats.org/officeDocument/2006/relationships/notesSlide" Target="/ppt/notesSlides/notesSlide3.xml" Id="R698fcab5fbf1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e8d6d07fe4fec" /><Relationship Type="http://schemas.openxmlformats.org/officeDocument/2006/relationships/notesSlide" Target="/ppt/notesSlides/notesSlide4.xml" Id="Rbc9db78978ba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b64f7f3f8411e" /><Relationship Type="http://schemas.openxmlformats.org/officeDocument/2006/relationships/notesSlide" Target="/ppt/notesSlides/notesSlide5.xml" Id="Re976c44006414b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138f3a9de4c2d" /><Relationship Type="http://schemas.openxmlformats.org/officeDocument/2006/relationships/notesSlide" Target="/ppt/notesSlides/notesSlide6.xml" Id="R8e5f76cf0e5244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41dc5e857448c" /><Relationship Type="http://schemas.openxmlformats.org/officeDocument/2006/relationships/notesSlide" Target="/ppt/notesSlides/notesSlide7.xml" Id="R347a8caec052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d7f553d494a81" /><Relationship Type="http://schemas.openxmlformats.org/officeDocument/2006/relationships/notesSlide" Target="/ppt/notesSlides/notesSlide8.xml" Id="R46a5fcd07dae40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ba95c3d354fe2" /><Relationship Type="http://schemas.openxmlformats.org/officeDocument/2006/relationships/notesSlide" Target="/ppt/notesSlides/notesSlide9.xml" Id="Rc3eaebbed6234d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d704f83d749f8" /><Relationship Type="http://schemas.openxmlformats.org/officeDocument/2006/relationships/notesSlide" Target="/ppt/notesSlides/notesSlide10.xml" Id="R70f8b48cb27a4a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cf51e817344e5" /><Relationship Type="http://schemas.openxmlformats.org/officeDocument/2006/relationships/notesSlide" Target="/ppt/notesSlides/notesSlide11.xml" Id="Rd0a64774921d4c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a8593d1644b37" /><Relationship Type="http://schemas.openxmlformats.org/officeDocument/2006/relationships/notesSlide" Target="/ppt/notesSlides/notesSlide12.xml" Id="R67350b3daf1447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de151a7624257" /><Relationship Type="http://schemas.openxmlformats.org/officeDocument/2006/relationships/notesSlide" Target="/ppt/notesSlides/notesSlide13.xml" Id="R83a86d130dc24b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96B62-2556-4893-9122-2543587B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6E5FE-0F21-42CC-BD91-E2A5DC2F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Precision irrigation for one Egyptian feddan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B51A-DBBB-47E3-BFF1-A9243BCE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24 autonomous zones · LoRa edge control · crop-aware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02EC4-681E-4183-9957-231E8BA0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02820"/>
                </a:solidFill>
              </a:defRPr>
            </a:pPr>
            <a:r>
              <a:rPr sz="3525" b="1">
                <a:solidFill>
                  <a:srgbClr val="102820"/>
                </a:solidFill>
              </a:rPr>
              <a:t>Deliver the right amount of water</a:t>
            </a:r>
          </a:p>
          <a:p xmlns:a="http://schemas.openxmlformats.org/drawingml/2006/main">
            <a:pPr>
              <a:defRPr sz="3525" b="1">
                <a:solidFill>
                  <a:srgbClr val="102820"/>
                </a:solidFill>
              </a:defRPr>
            </a:pPr>
            <a:r>
              <a:rPr sz="3525" b="1">
                <a:solidFill>
                  <a:srgbClr val="102820"/>
                </a:solidFill>
              </a:rPr>
              <a:t>to the right zone at the right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2A2B7-C627-4C4B-973A-49D8B16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F"/>
          </a:solidFill>
          <a:ln xmlns:a="http://schemas.openxmlformats.org/drawingml/2006/main" w="0">
            <a:solidFill>
              <a:srgbClr val="BDEC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E74A9-A550-4347-85BD-31E3CC2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6B4A"/>
                </a:solidFill>
              </a:defRPr>
            </a:pPr>
            <a:r>
              <a:rPr sz="3600" b="1">
                <a:solidFill>
                  <a:srgbClr val="176B4A"/>
                </a:solidFill>
              </a:rPr>
              <a:t>24</a:t>
            </a:r>
          </a:p>
          <a:p xmlns:a="http://schemas.openxmlformats.org/drawingml/2006/main">
            <a:pPr>
              <a:defRPr sz="3600" b="1">
                <a:solidFill>
                  <a:srgbClr val="176B4A"/>
                </a:solidFill>
              </a:defRPr>
            </a:pPr>
            <a:r>
              <a:rPr sz="3600" b="1">
                <a:solidFill>
                  <a:srgbClr val="176B4A"/>
                </a:solidFill>
              </a:rPr>
              <a:t>ZONES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7C094-E0A3-4161-9A28-6FECD0F2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A64"/>
                </a:solidFill>
              </a:defRPr>
            </a:pPr>
            <a:r>
              <a:rPr sz="1725" b="0">
                <a:solidFill>
                  <a:srgbClr val="5D6A64"/>
                </a:solidFill>
              </a:rPr>
              <a:t>Prototype system</a:t>
            </a:r>
          </a:p>
          <a:p xmlns:a="http://schemas.openxmlformats.org/drawingml/2006/main">
            <a:pPr>
              <a:defRPr sz="1725" b="0">
                <a:solidFill>
                  <a:srgbClr val="5D6A64"/>
                </a:solidFill>
              </a:defRPr>
            </a:pPr>
            <a:r>
              <a:rPr sz="1725" b="0">
                <a:solidFill>
                  <a:srgbClr val="5D6A64"/>
                </a:solidFill>
              </a:rPr>
              <a:t>for field validation</a:t>
            </a:r>
          </a:p>
        </p:txBody>
      </p:sp>
    </p:spTree>
    <p:extLst>
      <p:ext uri="{BB962C8B-B14F-4D97-AF65-F5344CB8AC3E}">
        <p14:creationId xmlns:p14="http://schemas.microsoft.com/office/powerpoint/2010/main" val="40219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86ED1-6034-4068-BA44-DCA76544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31D3A-C26B-4397-8843-0C9BF01C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The farm challenge is uneven demand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953AE-48F3-44A5-B78A-43B24709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A single schedule cannot reflect crop, soil, or growth-stage variability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2D4DE-EF78-4520-97BD-721779C3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51BE1-A728-4AAF-94DF-C9E55284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24 zones can have different crops and soil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2995A-103B-4599-8163-261D2881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613C3-8FD9-44BF-843B-F516BE87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Over-irrigation can increase water and nutrient losses.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F973D-3C38-4901-AE49-C930E16A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16557-5799-47A0-8B68-55CE2557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Manual decisions rarely include continuous local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2C909-AD43-45BC-9A87-5C45F38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4A"/>
                </a:solidFill>
              </a:defRPr>
            </a:pPr>
            <a:r>
              <a:rPr sz="2175" b="1">
                <a:solidFill>
                  <a:srgbClr val="176B4A"/>
                </a:solidFill>
              </a:rPr>
              <a:t>Design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A626D-4496-4F83-9932-103CCC9E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820"/>
                </a:solidFill>
              </a:defRPr>
            </a:pPr>
            <a:r>
              <a:rPr sz="2400" b="1">
                <a:solidFill>
                  <a:srgbClr val="102820"/>
                </a:solidFill>
              </a:rPr>
              <a:t>Sense → decide → deliver → verify</a:t>
            </a:r>
          </a:p>
        </p:txBody>
      </p:sp>
    </p:spTree>
    <p:extLst>
      <p:ext uri="{BB962C8B-B14F-4D97-AF65-F5344CB8AC3E}">
        <p14:creationId xmlns:p14="http://schemas.microsoft.com/office/powerpoint/2010/main" val="1261976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1485F-34D5-44EB-A8A2-F96F27F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9FC6B-3CAD-43A5-B6CD-EB9C3A5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One resilient control loop per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50959-A636-488B-B967-7A16CDD1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Sensors are wired locally; LoRa connects each ESP32 to the Raspberry 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029D0-E9C6-4E0B-9218-AF631D1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67203-9171-4BAA-BF74-0359FA22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Capacitive moisture + SHT31 + Hall flow sensor.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857BC-AEF2-49A6-80B8-AC53FE5B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A4A0-AE36-45C0-ADF4-D82A49D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ESP32 controls a protected driver—not the valve directly.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DD4F7-3089-4361-879D-E4D9EECB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9BD4B-0565-4A61-BE4A-D25641D0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SX1278 LoRa carries telemetry, commands and acknowledgements.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23D6B-BC74-4C58-A140-8D30580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4A"/>
                </a:solidFill>
              </a:defRPr>
            </a:pPr>
            <a:r>
              <a:rPr sz="2250" b="1">
                <a:solidFill>
                  <a:srgbClr val="176B4A"/>
                </a:solidFill>
              </a:rPr>
              <a:t>ESP32  →  LoRa  →  Raspberry Pi</a:t>
            </a:r>
          </a:p>
          <a:p xmlns:a="http://schemas.openxmlformats.org/drawingml/2006/main">
            <a:pPr>
              <a:defRPr sz="2250" b="1">
                <a:solidFill>
                  <a:srgbClr val="176B4A"/>
                </a:solidFill>
              </a:defRPr>
            </a:pPr>
            <a:r>
              <a:rPr sz="2250" b="1">
                <a:solidFill>
                  <a:srgbClr val="176B4A"/>
                </a:solidFill>
              </a:rPr>
              <a:t>     ← crop model + SQLite ←</a:t>
            </a:r>
          </a:p>
        </p:txBody>
      </p:sp>
    </p:spTree>
    <p:extLst>
      <p:ext uri="{BB962C8B-B14F-4D97-AF65-F5344CB8AC3E}">
        <p14:creationId xmlns:p14="http://schemas.microsoft.com/office/powerpoint/2010/main" val="3905166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4C52A-5DBB-4C24-B8CF-679B257B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1E07C-FF93-431C-868F-F0165896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The gateway makes decisions; the node enforces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0B6EF-C168-4E20-AFD4-3AC82FC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A5A90-70E4-47F9-926D-042CDCE5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Raspberry Pi selects the configured crop model once per zone.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8D1C3-4D2A-4EA2-81A1-D3D25D4E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FC147-02D7-4204-A400-AB5B795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It calculates a target volume and sends an irrigate command.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3EB14-0F65-408A-94C2-17CB48C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2EA6A-D0D3-4940-96C0-0B508E30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ESP32 closes locally at target, no-flow, high-flow or time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8E644-983B-4993-9376-83C2C0BC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88730"/>
                </a:solidFill>
              </a:defRPr>
            </a:pPr>
            <a:r>
              <a:rPr sz="2550" b="1">
                <a:solidFill>
                  <a:srgbClr val="D88730"/>
                </a:solidFill>
              </a:rPr>
              <a:t>Safety remains local</a:t>
            </a:r>
          </a:p>
          <a:p xmlns:a="http://schemas.openxmlformats.org/drawingml/2006/main">
            <a:pPr>
              <a:defRPr sz="2550" b="1">
                <a:solidFill>
                  <a:srgbClr val="D88730"/>
                </a:solidFill>
              </a:defRPr>
            </a:pPr>
            <a:r>
              <a:rPr sz="2550" b="1">
                <a:solidFill>
                  <a:srgbClr val="D88730"/>
                </a:solidFill>
              </a:rPr>
              <a:t>even if communications fail.</a:t>
            </a:r>
          </a:p>
        </p:txBody>
      </p:sp>
    </p:spTree>
    <p:extLst>
      <p:ext uri="{BB962C8B-B14F-4D97-AF65-F5344CB8AC3E}">
        <p14:creationId xmlns:p14="http://schemas.microsoft.com/office/powerpoint/2010/main" val="646998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6922D-0D4A-44F8-A3CB-A9AF4A6F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B5D4E-0F82-470E-B87C-8FF2DF06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Five crop models reflect different water-demand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53B70-6029-4699-94DB-C39A797C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Tomato · potato · cucumber · pepper · onion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214C0-79F8-4626-BFD9-7EEFEC4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6E6B9-AC77-4B1E-B59B-612945C9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Each model is trained only on its own crop dataset.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D461E-35AC-451E-B889-FC80116A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61A84-A48D-4F4D-A2FC-80F923A2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Growth stage and soil type are stored as context, not fabricated sensors.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010C2-3B41-4EBB-BBEF-6902A5A9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EAE6B-C75B-41B8-AB16-5C56045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Model outputs an irrigation decision; the water layer sets volume.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B84F6-AD4F-4D90-8B0D-07770CE3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4A"/>
                </a:solidFill>
              </a:defRPr>
            </a:pPr>
            <a:r>
              <a:rPr sz="2250" b="1">
                <a:solidFill>
                  <a:srgbClr val="176B4A"/>
                </a:solidFill>
              </a:rPr>
              <a:t>Tomato  Potato</a:t>
            </a:r>
          </a:p>
          <a:p xmlns:a="http://schemas.openxmlformats.org/drawingml/2006/main">
            <a:pPr>
              <a:defRPr sz="2250" b="1">
                <a:solidFill>
                  <a:srgbClr val="176B4A"/>
                </a:solidFill>
              </a:defRPr>
            </a:pPr>
            <a:r>
              <a:rPr sz="2250" b="1">
                <a:solidFill>
                  <a:srgbClr val="176B4A"/>
                </a:solidFill>
              </a:rPr>
              <a:t>Cucumber  Pepper  Onion</a:t>
            </a:r>
          </a:p>
        </p:txBody>
      </p:sp>
    </p:spTree>
    <p:extLst>
      <p:ext uri="{BB962C8B-B14F-4D97-AF65-F5344CB8AC3E}">
        <p14:creationId xmlns:p14="http://schemas.microsoft.com/office/powerpoint/2010/main" val="1610837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CB121-035D-4424-BBAE-B7D23D9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0208B-DB60-4A36-8615-371C687B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Synthetic data are research-informed—not field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D3F88-C35E-4965-8A51-F2B83946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Transparent assumptions make the prototype testable and replaceable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41458-C72A-4793-B972-DCD01C06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98A5C-F8EE-4122-974B-5FB5363C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Kc stage patterns guide demand simulation: ETc = Kc × 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B36A9-0083-4184-8614-E06CC92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8A888-AB5B-4336-9105-81026D4B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Soil retention changes depletion behavior for sandy, loamy and clay soil.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BA83B-06FF-4DEC-9D7C-03ABA983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FACEF-1EE4-4AE4-A41E-9DEEEA4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Noise is bounded; no independent random feature columns.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CD28C-C223-4552-9167-13A8C8C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88730"/>
                </a:solidFill>
              </a:defRPr>
            </a:pPr>
            <a:r>
              <a:rPr sz="2400" b="1">
                <a:solidFill>
                  <a:srgbClr val="D88730"/>
                </a:solidFill>
              </a:rPr>
              <a:t>Required next step:</a:t>
            </a:r>
          </a:p>
          <a:p xmlns:a="http://schemas.openxmlformats.org/drawingml/2006/main">
            <a:pPr>
              <a:defRPr sz="2400" b="1">
                <a:solidFill>
                  <a:srgbClr val="D88730"/>
                </a:solidFill>
              </a:defRPr>
            </a:pPr>
            <a:r>
              <a:rPr sz="2400" b="1">
                <a:solidFill>
                  <a:srgbClr val="D88730"/>
                </a:solidFill>
              </a:rPr>
              <a:t>calibrate with Egyptian field data.</a:t>
            </a:r>
          </a:p>
        </p:txBody>
      </p:sp>
    </p:spTree>
    <p:extLst>
      <p:ext uri="{BB962C8B-B14F-4D97-AF65-F5344CB8AC3E}">
        <p14:creationId xmlns:p14="http://schemas.microsoft.com/office/powerpoint/2010/main" val="1693240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100B7-A428-4F56-A96C-98E2ACE7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876DA-BA56-4B19-827C-8631A42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The ML pipeline is reproducible and edge-ready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719F3-A80D-465A-AC92-A88ABF75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8D1BE-BF1A-4E78-836F-A33EB18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12,000 synthetic records per crop; fixed seed.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85A2C-9A18-45FD-BE19-BF17A95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546A7-5703-4045-84C3-90EF6056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70% train · 15% validation · 15% held-out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09A65-591F-4BD8-AC00-92661E46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0900F-6FFB-4A19-B071-2977B14C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Compares logistic regression, random forest and gradient boosting by validation F1.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26955-0171-4DAC-A9CA-F4C4C30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B4A"/>
                </a:solidFill>
              </a:defRPr>
            </a:pPr>
            <a:r>
              <a:rPr sz="2250" b="1">
                <a:solidFill>
                  <a:srgbClr val="176B4A"/>
                </a:solidFill>
              </a:rPr>
              <a:t>model.joblib + metadata</a:t>
            </a:r>
          </a:p>
          <a:p xmlns:a="http://schemas.openxmlformats.org/drawingml/2006/main">
            <a:pPr>
              <a:defRPr sz="2250" b="1">
                <a:solidFill>
                  <a:srgbClr val="176B4A"/>
                </a:solidFill>
              </a:defRPr>
            </a:pPr>
            <a:r>
              <a:rPr sz="2250" b="1">
                <a:solidFill>
                  <a:srgbClr val="176B4A"/>
                </a:solidFill>
              </a:rPr>
              <a:t>loaded once at gateway start</a:t>
            </a:r>
          </a:p>
        </p:txBody>
      </p:sp>
    </p:spTree>
    <p:extLst>
      <p:ext uri="{BB962C8B-B14F-4D97-AF65-F5344CB8AC3E}">
        <p14:creationId xmlns:p14="http://schemas.microsoft.com/office/powerpoint/2010/main" val="1715422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B3BB6-5F29-4D4A-9636-F52D253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30B4D-46B4-44A7-B595-B53A2086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Flow feedback turns commands into verified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EC918-1F84-4834-A4BF-C02ED91E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1FD49-524B-4CEA-9DB6-0887B911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Interrupt pulse count ÷ calibrated pulses/litre = total litres.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89118-A57C-41D0-969C-248F44EA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75320-E5C1-4347-BDFE-FA698097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Flow rate is calculated over a timed interval.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F0668-373C-4037-81C6-7BDFD98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55EAE-E964-4289-8F18-475475B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Actual delivery closes the event loop in SQLite and Telegram.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D5E37-F1EE-4671-807B-65F1A2B0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820"/>
                </a:solidFill>
              </a:defRPr>
            </a:pPr>
            <a:r>
              <a:rPr sz="2400" b="1">
                <a:solidFill>
                  <a:srgbClr val="102820"/>
                </a:solidFill>
              </a:rPr>
              <a:t>Target 20 L</a:t>
            </a:r>
          </a:p>
          <a:p xmlns:a="http://schemas.openxmlformats.org/drawingml/2006/main">
            <a:pPr>
              <a:defRPr sz="2400" b="1">
                <a:solidFill>
                  <a:srgbClr val="102820"/>
                </a:solidFill>
              </a:defRPr>
            </a:pPr>
            <a:r>
              <a:rPr sz="2400" b="1">
                <a:solidFill>
                  <a:srgbClr val="102820"/>
                </a:solidFill>
              </a:rPr>
              <a:t>→ valve closed at 20 L</a:t>
            </a:r>
          </a:p>
        </p:txBody>
      </p:sp>
    </p:spTree>
    <p:extLst>
      <p:ext uri="{BB962C8B-B14F-4D97-AF65-F5344CB8AC3E}">
        <p14:creationId xmlns:p14="http://schemas.microsoft.com/office/powerpoint/2010/main" val="16635388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5D2DD-6227-4BC1-8F8D-DFEF0F0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8D5AC-F0A4-4D11-A564-183E7297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The platform produces operational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0F8DB-E423-4C03-BB03-5549B48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SQLite data supports traceability and weekly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88E34-2B67-4D30-9AED-0FC8139A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61D0-5F7B-4F1E-8707-8E9A7C2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Sensor readings: moisture, temperature, humidity and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C51C7-AE94-4B6F-BC65-070284E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5D01F-2326-4DDD-9BD3-8756A9B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Irrigation events: target, actual delivery, status and crop.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E2D1C-2079-4547-AA60-FE74A6A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4267F-B724-47C4-9FFF-614DE275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Weekly reports: water by zone/crop, failures and average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67AC5-7D48-4730-BEB1-82C4F78B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4A"/>
                </a:solidFill>
              </a:defRPr>
            </a:pPr>
            <a:r>
              <a:rPr sz="2175" b="1">
                <a:solidFill>
                  <a:srgbClr val="176B4A"/>
                </a:solidFill>
              </a:rPr>
              <a:t>Telemetry → model → command</a:t>
            </a:r>
          </a:p>
          <a:p xmlns:a="http://schemas.openxmlformats.org/drawingml/2006/main">
            <a:pPr>
              <a:defRPr sz="2175" b="1">
                <a:solidFill>
                  <a:srgbClr val="176B4A"/>
                </a:solidFill>
              </a:defRPr>
            </a:pPr>
            <a:r>
              <a:rPr sz="2175" b="1">
                <a:solidFill>
                  <a:srgbClr val="176B4A"/>
                </a:solidFill>
              </a:rPr>
              <a:t>→ delivery → report</a:t>
            </a:r>
          </a:p>
        </p:txBody>
      </p:sp>
    </p:spTree>
    <p:extLst>
      <p:ext uri="{BB962C8B-B14F-4D97-AF65-F5344CB8AC3E}">
        <p14:creationId xmlns:p14="http://schemas.microsoft.com/office/powerpoint/2010/main" val="1113119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056C6-D631-4EF6-8FDD-F0533BB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146BA-74AA-4C50-9351-8FF0DE3B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Hardware cost: ≈ 66,000 EGP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22997-3785-4FB3-A144-B351140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One feddan / 24 zones · existing main pump excluded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2C5E2-832D-4F54-B1A7-65D91C7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4A"/>
                </a:solidFill>
              </a:defRPr>
            </a:pPr>
            <a:r>
              <a:rPr sz="2100" b="1">
                <a:solidFill>
                  <a:srgbClr val="176B4A"/>
                </a:solidFill>
              </a:rPr>
              <a:t>24 zones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C30A0-167F-42DD-B065-DEC8229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820"/>
                </a:solidFill>
              </a:defRPr>
            </a:pPr>
            <a:r>
              <a:rPr sz="3300" b="1">
                <a:solidFill>
                  <a:srgbClr val="102820"/>
                </a:solidFill>
              </a:rPr>
              <a:t>58,776 EGP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87C8D-7843-44EE-9627-FB67DB6A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4A"/>
                </a:solidFill>
              </a:defRPr>
            </a:pPr>
            <a:r>
              <a:rPr sz="2100" b="1">
                <a:solidFill>
                  <a:srgbClr val="176B4A"/>
                </a:solidFill>
              </a:rPr>
              <a:t>Central 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28659-6840-4DBE-A03E-193D6EF6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820"/>
                </a:solidFill>
              </a:defRPr>
            </a:pPr>
            <a:r>
              <a:rPr sz="3300" b="1">
                <a:solidFill>
                  <a:srgbClr val="102820"/>
                </a:solidFill>
              </a:rPr>
              <a:t>≈ 7,500 EGP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C397B-641A-4E91-890D-C7BB7396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62125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CCF"/>
          </a:solidFill>
          <a:ln xmlns:a="http://schemas.openxmlformats.org/drawingml/2006/main" w="0">
            <a:solidFill>
              <a:srgbClr val="BDEC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C7253-C247-417A-8508-F1CC168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820"/>
                </a:solidFill>
              </a:defRPr>
            </a:pPr>
            <a:r>
              <a:rPr sz="2400" b="1">
                <a:solidFill>
                  <a:srgbClr val="102820"/>
                </a:solidFill>
              </a:rPr>
              <a:t>TOTAL</a:t>
            </a:r>
          </a:p>
          <a:p xmlns:a="http://schemas.openxmlformats.org/drawingml/2006/main">
            <a:pPr>
              <a:defRPr sz="2400" b="1">
                <a:solidFill>
                  <a:srgbClr val="102820"/>
                </a:solidFill>
              </a:defRPr>
            </a:pPr>
            <a:r>
              <a:rPr sz="2400" b="1">
                <a:solidFill>
                  <a:srgbClr val="102820"/>
                </a:solidFill>
              </a:rPr>
              <a:t>≈ 66,300 EGP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D91F0-85FB-4CC0-A541-4918C6A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A64"/>
                </a:solidFill>
              </a:defRPr>
            </a:pPr>
            <a:r>
              <a:rPr sz="1425" b="0">
                <a:solidFill>
                  <a:srgbClr val="5D6A64"/>
                </a:solidFill>
              </a:rPr>
              <a:t>Includes ESP32, SX1278, sensors, valves, drivers, boxes, sprinklers, Raspberry Pi, LoRa, storage, PSU, fittings and basic filter/pressure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6370378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C4EBA-0ACD-46D3-B2F7-E4981688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3A8C9-DE43-443B-8531-8FEB021E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The cost schedule is transparent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4C59F-0A72-4E82-848D-95BDEE9D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Per-zone hardware × 24 = 58,776 EGP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AED21-0405-4AAB-AF2A-716DDC7E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D8C17-9F5D-4383-B245-21701E64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ESP32 + SX1278: 14,784 EGP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7A648-1A97-4295-9125-A99D48A9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3D79A-9571-426D-A675-C800CEA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Sensors (moisture, SHT31, Hall): 10,320 EGP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AB7E5-E6CD-4581-A0C6-C0F1A378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ED1C3-7F01-49D7-A30F-2B58A568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Valves, driver/protection, enclosure/wiring, sprinkler: 33,672 EGP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5D95E-DCD9-41A9-807C-12291214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B4A"/>
                </a:solidFill>
              </a:defRPr>
            </a:pPr>
            <a:r>
              <a:rPr sz="3000" b="1">
                <a:solidFill>
                  <a:srgbClr val="176B4A"/>
                </a:solidFill>
              </a:rPr>
              <a:t>2,449 EGP</a:t>
            </a:r>
          </a:p>
          <a:p xmlns:a="http://schemas.openxmlformats.org/drawingml/2006/main">
            <a:pPr>
              <a:defRPr sz="3000" b="1">
                <a:solidFill>
                  <a:srgbClr val="176B4A"/>
                </a:solidFill>
              </a:defRPr>
            </a:pPr>
            <a:r>
              <a:rPr sz="3000" b="1">
                <a:solidFill>
                  <a:srgbClr val="176B4A"/>
                </a:solidFill>
              </a:rPr>
              <a:t>per zone</a:t>
            </a:r>
          </a:p>
        </p:txBody>
      </p:sp>
    </p:spTree>
    <p:extLst>
      <p:ext uri="{BB962C8B-B14F-4D97-AF65-F5344CB8AC3E}">
        <p14:creationId xmlns:p14="http://schemas.microsoft.com/office/powerpoint/2010/main" val="9013828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CE666-D3CE-44A4-B35C-7443131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3E117-0538-454C-909C-EF1C038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Value comes from precision, not a guaranteed percentage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5C59-14EE-4DCA-9981-3F98A5E9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Use water and energy economics that match each farm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C6B3B-523F-42A2-A942-9479BBC3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881BB-96A9-4A38-A4C8-E9532CAA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Potentially 30–60% less irrigation water depends on baseline method, crop, soil and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8A368-ED0A-4FAF-BBFD-60B9DB88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42CB8-F9A0-4230-A1D6-14BC138F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Each zone receives its own sensing and decision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2B0F1-EA4A-49B3-B5BF-DEED2D9E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5D769-83FF-4D51-A921-55D911D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820"/>
                </a:solidFill>
              </a:defRPr>
            </a:pPr>
            <a:r>
              <a:rPr sz="1800" b="0">
                <a:solidFill>
                  <a:srgbClr val="102820"/>
                </a:solidFill>
              </a:rPr>
              <a:t>More precise timing/volume can reduce the risk of over-irrigation and leaching.</a:t>
            </a:r>
          </a:p>
        </p:txBody>
      </p:sp>
    </p:spTree>
    <p:extLst>
      <p:ext uri="{BB962C8B-B14F-4D97-AF65-F5344CB8AC3E}">
        <p14:creationId xmlns:p14="http://schemas.microsoft.com/office/powerpoint/2010/main" val="1587237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D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900D4-FFA2-4F33-BE2E-812B495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A"/>
          </a:solidFill>
          <a:ln xmlns:a="http://schemas.openxmlformats.org/drawingml/2006/main" w="0">
            <a:solidFill>
              <a:srgbClr val="176B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6B21D-03AD-4DEF-881F-DFE4E0D6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820"/>
                </a:solidFill>
              </a:defRPr>
            </a:pPr>
            <a:r>
              <a:rPr sz="2925" b="1">
                <a:solidFill>
                  <a:srgbClr val="102820"/>
                </a:solidFill>
              </a:rPr>
              <a:t>ROI should use the farm’s real pumping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41E76-47A1-41E8-9BB7-D20690A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A64"/>
                </a:solidFill>
              </a:defRPr>
            </a:pPr>
            <a:r>
              <a:rPr sz="1350" b="0">
                <a:solidFill>
                  <a:srgbClr val="5D6A64"/>
                </a:solidFill>
              </a:rPr>
              <a:t>Avoid inventing a universal water price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D51D8-5CCD-4640-8D19-18D61CC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820"/>
                </a:solidFill>
              </a:defRPr>
            </a:pPr>
            <a:r>
              <a:rPr sz="2550" b="1">
                <a:solidFill>
                  <a:srgbClr val="102820"/>
                </a:solidFill>
              </a:rPr>
              <a:t>1,000 m³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0AC1D-53C0-4E96-BBE4-E83802D3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4A"/>
                </a:solidFill>
              </a:defRPr>
            </a:pPr>
            <a:r>
              <a:rPr sz="2550" b="1">
                <a:solidFill>
                  <a:srgbClr val="176B4A"/>
                </a:solidFill>
              </a:rPr>
              <a:t>× 40%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320E-20A2-45F9-B517-4234036D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820"/>
                </a:solidFill>
              </a:defRPr>
            </a:pPr>
            <a:r>
              <a:rPr sz="2550" b="1">
                <a:solidFill>
                  <a:srgbClr val="102820"/>
                </a:solidFill>
              </a:rPr>
              <a:t>= 400 m³ saved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76E2F-EB71-4D3F-8FB2-08751031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290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820"/>
                </a:solidFill>
              </a:defRPr>
            </a:pPr>
            <a:r>
              <a:rPr sz="2850" b="1">
                <a:solidFill>
                  <a:srgbClr val="102820"/>
                </a:solidFill>
              </a:rPr>
              <a:t>Money saved = 400 × X EGP</a:t>
            </a:r>
          </a:p>
          <a:p xmlns:a="http://schemas.openxmlformats.org/drawingml/2006/main">
            <a:pPr>
              <a:defRPr sz="2850" b="1">
                <a:solidFill>
                  <a:srgbClr val="102820"/>
                </a:solidFill>
              </a:defRPr>
            </a:pPr>
            <a:r>
              <a:rPr sz="2850" b="1">
                <a:solidFill>
                  <a:srgbClr val="102820"/>
                </a:solidFill>
              </a:rPr>
              <a:t>X = actual pumping cost per m³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CD7AD-4DAC-44B3-B7BD-D8290570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8730"/>
                </a:solidFill>
              </a:defRPr>
            </a:pPr>
            <a:r>
              <a:rPr sz="1800" b="1">
                <a:solidFill>
                  <a:srgbClr val="D88730"/>
                </a:solidFill>
              </a:rPr>
              <a:t>Next: field pilot, calibrate sensors, capture baseline water/energy, validate the models.</a:t>
            </a:r>
          </a:p>
        </p:txBody>
      </p:sp>
    </p:spTree>
    <p:extLst>
      <p:ext uri="{BB962C8B-B14F-4D97-AF65-F5344CB8AC3E}">
        <p14:creationId xmlns:p14="http://schemas.microsoft.com/office/powerpoint/2010/main" val="483914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2026-08-14T21:05:50.3520000Z</dcterms:created>
  <dcterms:modified xsi:type="dcterms:W3CDTF">2026-08-14T21:05:50.3520000Z</dcterms:modified>
</coreProperties>
</file>